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Star (XVII Didžiojo Arkano korta) — simbolizuoja viltį, atsinaujinimą ir vidinį vedimą po transformacijos.</a:t>
            </a:r>
          </a:p>
          <a:p/>
          <a:p>
            <a:r>
              <a:t>Korta seka po Bokšto (XVI): destrukcija, griūtis. The Star = atsinaujinimo pažadas.</a:t>
            </a:r>
          </a:p>
          <a:p/>
          <a:p>
            <a:r>
              <a:t>Simbolika:</a:t>
            </a:r>
          </a:p>
          <a:p>
            <a:r>
              <a:t>– Moteris laisto vandeniu tiek ežerą (kolektyvinė sąmonė), tiek žemę (asmeninė psichika)</a:t>
            </a:r>
          </a:p>
          <a:p>
            <a:r>
              <a:t>– Nuogumas = autentiškumas, neapsaugotumas, tikrumas</a:t>
            </a:r>
          </a:p>
          <a:p>
            <a:r>
              <a:t>– 8 žvaigždės (7 planetos + Sirius) = kosminis vedimas</a:t>
            </a:r>
          </a:p>
          <a:p>
            <a:r>
              <a:t>– The Star = vidinės šviesos simbolis po tamsiausio laiko</a:t>
            </a:r>
          </a:p>
          <a:p/>
          <a:p>
            <a:r>
              <a:t>Šaltiniai:</a:t>
            </a:r>
          </a:p>
          <a:p>
            <a:r>
              <a:t>– DOI: https://doi.org/10.1080/17432970902917984</a:t>
            </a:r>
          </a:p>
          <a:p>
            <a:r>
              <a:t>– arcanacalculator.com/arcana-cards/arcana-17-the-star</a:t>
            </a:r>
          </a:p>
          <a:p>
            <a:r>
              <a:t>– labyrinthos.co/blogs/tarot-card-meanings-list/the-star-meaning-major-arcana-tarot-card-meanings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Moteriškumas per istorijos prizmę — nuo baudimo iki garbinimo.</a:t>
            </a:r>
          </a:p>
          <a:p/>
          <a:p>
            <a:r>
              <a:t>ISTORINIAI POSŪKIAI:</a:t>
            </a:r>
          </a:p>
          <a:p>
            <a:r>
              <a:t>• Viduramžiai — labiausiai niekinantis požiūris į moterų prigimtį</a:t>
            </a:r>
          </a:p>
          <a:p>
            <a:r>
              <a:t>• Elžbietos laikotarpis — grožis ir moters garbinimas; „problematiška” moteris baudžiama</a:t>
            </a:r>
          </a:p>
          <a:p>
            <a:r>
              <a:t>• XIX a. pabaiga — femme fatale mene: Mucha (dekoratyvi), Toulouse-Lautrec (ciniškas)</a:t>
            </a:r>
          </a:p>
          <a:p>
            <a:r>
              <a:t>• Terminas „femme fatale” Didžiojoje Britanijoje pasirodė 1912 m. (G.B. Shaw laiška, Braun 2012)</a:t>
            </a:r>
          </a:p>
          <a:p/>
          <a:p>
            <a:r>
              <a:t>VOGUE ir moterų įgalinimas:</a:t>
            </a:r>
          </a:p>
          <a:p>
            <a:r>
              <a:t>• Godey's Lady's Book (1830) red. Sarah Josepha Hale: apranga + profesija = įgalinimas</a:t>
            </a:r>
          </a:p>
          <a:p>
            <a:r>
              <a:t>• XIX a. Niujorke: &gt;6000 fabrikų, bet moterys neturėjo rinkimų teisės iki 1917 m.</a:t>
            </a:r>
          </a:p>
          <a:p>
            <a:r>
              <a:t>• Moterims nebuvo leidžiama eiti į restoranus be vyrų palydos iki XIX a. pabaigos</a:t>
            </a:r>
          </a:p>
          <a:p/>
          <a:p>
            <a:r>
              <a:t>1894 m. Vogue viršelis: moteris kaip liepsna, apie kurią sukasi vyrai — anima kaip pritraukianti energija.</a:t>
            </a:r>
          </a:p>
          <a:p/>
          <a:p>
            <a:r>
              <a:t>Šaltiniai:</a:t>
            </a:r>
          </a:p>
          <a:p>
            <a:r>
              <a:t>• Barber et al. (2019). DOI: https://doi.org/10.1177/0276146719847748</a:t>
            </a:r>
          </a:p>
          <a:p>
            <a:r>
              <a:t>• Martin, A. (UNC thesis): https://cdr.lib.unc.edu/concern/honors_theses/sn00b818x</a:t>
            </a:r>
          </a:p>
          <a:p>
            <a:r>
              <a:t>• DOI: https://doi.org/10.63002/assm.210.662</a:t>
            </a:r>
          </a:p>
          <a:p>
            <a:r>
              <a:t>• Money &amp; Tucker (1975). DOI: https://doi.org/10.2190/IC.33.3.b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Archetipai — vienas svarbiausių Jungo psichologijos pagrindų.</a:t>
            </a:r>
          </a:p>
          <a:p/>
          <a:p>
            <a:r>
              <a:t>Pagal Jungą (1959):</a:t>
            </a:r>
          </a:p>
          <a:p>
            <a:r>
              <a:t>• Archetipai = nesąmoningų instinktų, siekiančių priešistorinius laikus, apraiškos</a:t>
            </a:r>
          </a:p>
          <a:p>
            <a:r>
              <a:t>• Vadinami dominantais arba imagais</a:t>
            </a:r>
          </a:p>
          <a:p>
            <a:r>
              <a:t>• Universalūs — aptinkami visose kultūrose</a:t>
            </a:r>
          </a:p>
          <a:p>
            <a:r>
              <a:t>• Simboliai ir vaizdai juos aktyvuoja (Jung, 1964)</a:t>
            </a:r>
          </a:p>
          <a:p/>
          <a:p>
            <a:r>
              <a:t>Neoarchetipinė teorija (Faber ir Mayer, 2009):</a:t>
            </a:r>
          </a:p>
          <a:p>
            <a:r>
              <a:t>• Archetipai kaip mentaliniai modeliai (save ir kita)</a:t>
            </a:r>
          </a:p>
          <a:p>
            <a:r>
              <a:t>• Veikia automatiniu, nesąmoningu lygmeniu</a:t>
            </a:r>
          </a:p>
          <a:p>
            <a:r>
              <a:t>• Kultūriškai ilgalaikiai; šiandien laikomi įgytais, ne genetiškai paveldimais</a:t>
            </a:r>
          </a:p>
          <a:p/>
          <a:p>
            <a:r>
              <a:t>Moterims ypač svarbūs archetipai:</a:t>
            </a:r>
          </a:p>
          <a:p>
            <a:r>
              <a:t>• Anima (siela / gylio dimensija)</a:t>
            </a:r>
          </a:p>
          <a:p>
            <a:r>
              <a:t>• Didžioji Motina (Great Mother)</a:t>
            </a:r>
          </a:p>
          <a:p>
            <a:r>
              <a:t>• Kore/Persefonė (Mergina/Transformacija)</a:t>
            </a:r>
          </a:p>
          <a:p>
            <a:r>
              <a:t>• Senoji Išmintingoji (Wise Old Woman)</a:t>
            </a:r>
          </a:p>
          <a:p/>
          <a:p>
            <a:r>
              <a:t>Šaltiniai:</a:t>
            </a:r>
          </a:p>
          <a:p>
            <a:r>
              <a:t>• Jung, C.G. (1959). Archetypes and the Collective Unconscious. Princeton UP.</a:t>
            </a:r>
          </a:p>
          <a:p>
            <a:r>
              <a:t>• DOI: https://doi.org/10.1177/0276146719847748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 ir Animus — Jungo analitinės psichologijos šerdis.</a:t>
            </a:r>
          </a:p>
          <a:p/>
          <a:p>
            <a:r>
              <a:t>Klasikinė Jungo formuluotė:</a:t>
            </a:r>
          </a:p>
          <a:p>
            <a:r>
              <a:t>ANIMA (vyro psichikoje):</a:t>
            </a:r>
          </a:p>
          <a:p>
            <a:r>
              <a:t>• Minkštumas, jautrumas, intuicija, ryšys su emocijomis</a:t>
            </a:r>
          </a:p>
          <a:p>
            <a:r>
              <a:t>• Veikia kaip „siela” — gyvenimo gylis ir prasmė</a:t>
            </a:r>
          </a:p>
          <a:p>
            <a:r>
              <a:t>• Neintegruota anima: neracionalūs nuotaikos svyravimai, perdėtas idealizavimas</a:t>
            </a:r>
          </a:p>
          <a:p/>
          <a:p>
            <a:r>
              <a:t>ANIMUS (moters psichikoje):</a:t>
            </a:r>
          </a:p>
          <a:p>
            <a:r>
              <a:t>• Racionalumas, tikslingumas, veiksmas, autonomija</a:t>
            </a:r>
          </a:p>
          <a:p>
            <a:r>
              <a:t>• Bash (1972): kompensuoja sąmoningą asmenybės pusę; DOI: 10.1080/00223891.1972.10119769</a:t>
            </a:r>
          </a:p>
          <a:p/>
          <a:p>
            <a:r>
              <a:t>Šiuolaikinė interpretacija (Oxford UP, DOI: 10.1093/acprof:oso/9780199735426.003.0011):</a:t>
            </a:r>
          </a:p>
          <a:p>
            <a:r>
              <a:t>• Moters animus šiandien = vidinės autonomijos, racionalumo ir kryptingumo šaltinis</a:t>
            </a:r>
          </a:p>
          <a:p>
            <a:r>
              <a:t>• Integruotas animus: ryšys tiek su emociniu, tiek racionaliuoju pradu</a:t>
            </a:r>
          </a:p>
          <a:p/>
          <a:p>
            <a:r>
              <a:t>Hilde Binswanger (1963):</a:t>
            </a:r>
          </a:p>
          <a:p>
            <a:r>
              <a:t>• Moterys turi biologinį vyriškumą (Eros) ir psichologinį maskulinumą pasąmonėje</a:t>
            </a:r>
          </a:p>
          <a:p>
            <a:r>
              <a:t>• Terapijos tikslas — sujungti du moteriško vyriškumo tipus stiprioje moteryje</a:t>
            </a:r>
          </a:p>
          <a:p/>
          <a:p>
            <a:r>
              <a:t>Šaltiniai:</a:t>
            </a:r>
          </a:p>
          <a:p>
            <a:r>
              <a:t>• Bash, G.A. (1972). DOI: 10.1080/00223891.1972.10119769</a:t>
            </a:r>
          </a:p>
          <a:p>
            <a:r>
              <a:t>• DOI: 10.1093/acprof:oso/9780199735426.003.0011</a:t>
            </a:r>
          </a:p>
          <a:p>
            <a:r>
              <a:t>• https://www.academia.edu/3497431/Archetypes_and_Stereotypes_of_Women</a:t>
            </a:r>
          </a:p>
          <a:p>
            <a:r>
              <a:t>• https://appliedjung.com/blog/the-archetypes-of-the-anima-and-animus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Šešėlio koncepcija — vienas svarbiausių Jungo psichologijos elementų.</a:t>
            </a:r>
          </a:p>
          <a:p/>
          <a:p>
            <a:r>
              <a:t>Šešėlio apibrėžimas:</a:t>
            </a:r>
          </a:p>
          <a:p>
            <a:r>
              <a:t>• Psichikos aspektai, nukelti į pasąmonę dėl socialinio spaudimo, gėdos, bausmės grėsmės</a:t>
            </a:r>
          </a:p>
          <a:p>
            <a:r>
              <a:t>• Šešėlis NĖRA tik „blogis” — jame gali slypėti stiprybė, kūrybiškumas, seksualumas, autonomija</a:t>
            </a:r>
          </a:p>
          <a:p>
            <a:r>
              <a:t>• „Labai šviesi” persona (kaukė) = „tamsus” šešėlis</a:t>
            </a:r>
          </a:p>
          <a:p/>
          <a:p>
            <a:r>
              <a:t>Moters šešėlyje dažnai (Levine-Keini ir Shalev, 2024):</a:t>
            </a:r>
          </a:p>
          <a:p>
            <a:r>
              <a:t>• Slopintas pyktis (socialiai „nepriderama” moteriai pykti)</a:t>
            </a:r>
          </a:p>
          <a:p>
            <a:r>
              <a:t>• Autonomija ir savarankiškumas</a:t>
            </a:r>
          </a:p>
          <a:p>
            <a:r>
              <a:t>• Seksualumas ir erotiška galia</a:t>
            </a:r>
          </a:p>
          <a:p>
            <a:r>
              <a:t>• Vidinė jėga ir dominuojanti energija</a:t>
            </a:r>
          </a:p>
          <a:p/>
          <a:p>
            <a:r>
              <a:t>Šešėlio atsisakymo kaina:</a:t>
            </a:r>
          </a:p>
          <a:p>
            <a:r>
              <a:t>• Energijos praradimas — reikia pastangų slopinimui</a:t>
            </a:r>
          </a:p>
          <a:p>
            <a:r>
              <a:t>• Projekcijos — šešėlio bruožus matome kituose</a:t>
            </a:r>
          </a:p>
          <a:p>
            <a:r>
              <a:t>• Asmenybės skurdumas; negalime naudoti savo resursų</a:t>
            </a:r>
          </a:p>
          <a:p/>
          <a:p>
            <a:r>
              <a:t>Šaltiniai:</a:t>
            </a:r>
          </a:p>
          <a:p>
            <a:r>
              <a:t>• DOI: 10.1080/19342039.2013.788419</a:t>
            </a:r>
          </a:p>
          <a:p>
            <a:r>
              <a:t>• DOI: 10.1163/19409060-bja10020</a:t>
            </a:r>
          </a:p>
          <a:p>
            <a:r>
              <a:t>• DOI: https://doi.org/10.46866/josshe.2018.v1.n2.44</a:t>
            </a:r>
          </a:p>
          <a:p>
            <a:r>
              <a:t>• DOI: https://doi.org/10.22484/2177-5788.2022v48id4807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Šešėlio integracijos procesas pagal Jungą ir naujausius tyrimus.</a:t>
            </a:r>
          </a:p>
          <a:p/>
          <a:p>
            <a:r>
              <a:t>Levine-Keini ir Shalev (2024):</a:t>
            </a:r>
          </a:p>
          <a:p>
            <a:r>
              <a:t>• Moteriškumo brandai būtinas ne „tobulo moteriškumo” konstravimas, o nesąmoningų aspektų integracija</a:t>
            </a:r>
          </a:p>
          <a:p>
            <a:r>
              <a:t>• Šešėlio pripažinimas leidžia priimti slopintą pyktį, autonomiją, seksualumą bei vidinę galią</a:t>
            </a:r>
          </a:p>
          <a:p>
            <a:r>
              <a:t>DOI: https://doi.org/10.46866/josshe.2018.v1.n2.44</a:t>
            </a:r>
          </a:p>
          <a:p/>
          <a:p>
            <a:r>
              <a:t>SVARBU: Integracija NĖRA leidimas elgtis destruktyviai — tai SUVOKIMAS ir PRIĖMIMAS.</a:t>
            </a:r>
          </a:p>
          <a:p/>
          <a:p>
            <a:r>
              <a:t>Jungo citata: „Tik tada, kai pirmiausiai sugrįšite į kūną, į savo žemę, gali įvykti individualizacija, tik tada dalykas taps tiesa.” (C.G. Jung, 1930–1934, t. 2, p. 1314)</a:t>
            </a:r>
          </a:p>
          <a:p/>
          <a:p>
            <a:r>
              <a:t>Integracija suteikia:</a:t>
            </a:r>
          </a:p>
          <a:p>
            <a:r>
              <a:t>• Energiją, kurią anksčiau naudojome slopinimui</a:t>
            </a:r>
          </a:p>
          <a:p>
            <a:r>
              <a:t>• Pabaigą projekcijoms — nustojame kituose matyti, ką neigėme savyje</a:t>
            </a:r>
          </a:p>
          <a:p>
            <a:r>
              <a:t>• Pilnesnę asmenybę su prieiga prie visų savo resursų</a:t>
            </a:r>
          </a:p>
          <a:p>
            <a:r>
              <a:t>• Autentiškesnius santykius su savimi ir kitais</a:t>
            </a:r>
          </a:p>
          <a:p/>
          <a:p>
            <a:r>
              <a:t>Šaltiniai:</a:t>
            </a:r>
          </a:p>
          <a:p>
            <a:r>
              <a:t>• DOI: 10.1080/19342039.2013.788419</a:t>
            </a:r>
          </a:p>
          <a:p>
            <a:r>
              <a:t>• DOI: https://doi.org/10.46866/josshe.2018.v1.n2.44</a:t>
            </a:r>
          </a:p>
          <a:p>
            <a:r>
              <a:t>• DOI: https://doi.org/10.22484/2177-5788.2022v48id4807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ir Savastis (Self) — vienas svarbiausių Jungo dichotomijų.</a:t>
            </a:r>
          </a:p>
          <a:p/>
          <a:p>
            <a:r>
              <a:t>PERSONA:</a:t>
            </a:r>
          </a:p>
          <a:p>
            <a:r>
              <a:t>• Būtina socialiniam funkcionavimui</a:t>
            </a:r>
          </a:p>
          <a:p>
            <a:r>
              <a:t>• Problema kai per stipriai susitapatinama su ja — žmogus gyvena „vaidmeniu”</a:t>
            </a:r>
          </a:p>
          <a:p/>
          <a:p>
            <a:r>
              <a:t>Moterų persona dažnai apima:</a:t>
            </a:r>
          </a:p>
          <a:p>
            <a:r>
              <a:t>• Rūpestingos, besausvaldančios, visada geranoriškos moters vaizdą</a:t>
            </a:r>
          </a:p>
          <a:p>
            <a:r>
              <a:t>• Profesionalios, kompetentingos, nerodančios jausmų vaizdą</a:t>
            </a:r>
          </a:p>
          <a:p/>
          <a:p>
            <a:r>
              <a:t>SAVASTIS (Self):</a:t>
            </a:r>
          </a:p>
          <a:p>
            <a:r>
              <a:t>• Self = psichinės visumos simbolis, apimantis ir sąmonę, ir nesąmonę</a:t>
            </a:r>
          </a:p>
          <a:p>
            <a:r>
              <a:t>• Individuacijos tikslas — artėti prie Self realizacijos</a:t>
            </a:r>
          </a:p>
          <a:p>
            <a:r>
              <a:t>• Rocha (2018): tik integruojant šešėlį, animą/animusą ir ego galima pasiekti Self</a:t>
            </a:r>
          </a:p>
          <a:p/>
          <a:p>
            <a:r>
              <a:t>INDIVIDUACIJOS PROCESAS (Jungas):</a:t>
            </a:r>
          </a:p>
          <a:p>
            <a:r>
              <a:t>1. Susidūrimas su šešėliu ir jo atpažinimas</a:t>
            </a:r>
          </a:p>
          <a:p>
            <a:r>
              <a:t>2. Animų/animo integravimas</a:t>
            </a:r>
          </a:p>
          <a:p>
            <a:r>
              <a:t>3. Personas ir tikrosios savasties atskyrimas</a:t>
            </a:r>
          </a:p>
          <a:p>
            <a:r>
              <a:t>4. Artėjimas prie Self</a:t>
            </a:r>
          </a:p>
          <a:p/>
          <a:p>
            <a:r>
              <a:t>Šaltiniai:</a:t>
            </a:r>
          </a:p>
          <a:p>
            <a:r>
              <a:t>• DOI: https://doi.org/10.46866/josshe.2018.v1.n2.44</a:t>
            </a:r>
          </a:p>
          <a:p>
            <a:r>
              <a:t>• https://appliedjung.com/blog/the-archetypes-of-the-anima-and-animus</a:t>
            </a:r>
          </a:p>
          <a:p>
            <a:r>
              <a:t>• DOI: 10.1093/acprof:oso/9780199735426.003.0011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femme fatale archetipai pagal Barber et al. (2019) — mokslinė Vogue žurnalo 1892–1900 m. analizė.</a:t>
            </a:r>
          </a:p>
          <a:p/>
          <a:p>
            <a:r>
              <a:t>Klasifikavimas — dvi ašys:</a:t>
            </a:r>
          </a:p>
          <a:p>
            <a:r>
              <a:t>• Vertikali (Aspirations): Outer-focused ↔ Inner-focused</a:t>
            </a:r>
          </a:p>
          <a:p>
            <a:r>
              <a:t>• Horizontali (Utilization): Sexual ↔ Pecuniary (finansinis)</a:t>
            </a:r>
          </a:p>
          <a:p/>
          <a:p>
            <a:r>
              <a:t>DIANA (Medžiotoja / Huntress of Fortune):</a:t>
            </a:r>
          </a:p>
          <a:p>
            <a:r>
              <a:t>• Outer-focused + Pecuniary</a:t>
            </a:r>
          </a:p>
          <a:p>
            <a:r>
              <a:t>• „Gibson Girl” pirmtakė — pavojinga savo varžovams</a:t>
            </a:r>
          </a:p>
          <a:p>
            <a:r>
              <a:t>• Sapnuoja, iš dalies užmerktos akys — pati savo pasaulyje</a:t>
            </a:r>
          </a:p>
          <a:p>
            <a:r>
              <a:t>• Apranga signalizuoja prieštaravimą tarp kunigystės ir eroticizmo</a:t>
            </a:r>
          </a:p>
          <a:p/>
          <a:p>
            <a:r>
              <a:t>VENERA (Gundytoja / Seductress):</a:t>
            </a:r>
          </a:p>
          <a:p>
            <a:r>
              <a:t>• Inner-focused + Sexual</a:t>
            </a:r>
          </a:p>
          <a:p>
            <a:r>
              <a:t>• Seksualinį patrauklumą naudoja valdžiai</a:t>
            </a:r>
          </a:p>
          <a:p>
            <a:r>
              <a:t>• Ilgi plaukai kaip simbolinė laso figūra (Dijkstra, 1986)</a:t>
            </a:r>
          </a:p>
          <a:p>
            <a:r>
              <a:t>• Trojos karas — jos ego atnešė sugriovimą</a:t>
            </a:r>
          </a:p>
          <a:p/>
          <a:p>
            <a:r>
              <a:t>AMAZONĖ (Karė / „American Girls”):</a:t>
            </a:r>
          </a:p>
          <a:p>
            <a:r>
              <a:t>• Outer-focused + Sexual</a:t>
            </a:r>
          </a:p>
          <a:p>
            <a:r>
              <a:t>• Jojimas, dviračiai — transgresyvūs, vyriškai suvokiami veiksmai XIX a.</a:t>
            </a:r>
          </a:p>
          <a:p>
            <a:r>
              <a:t>• Socialiai „pavojinga ir rizikinga” (Wosk, 2001)</a:t>
            </a:r>
          </a:p>
          <a:p/>
          <a:p>
            <a:r>
              <a:t>SAPFO (Savarankiška / Independent „New Women”):</a:t>
            </a:r>
          </a:p>
          <a:p>
            <a:r>
              <a:t>• Inner-focused + Pecuniary</a:t>
            </a:r>
          </a:p>
          <a:p>
            <a:r>
              <a:t>• Platono „dešimtoji mūza”</a:t>
            </a:r>
          </a:p>
          <a:p>
            <a:r>
              <a:t>• XIX a.: paliko namus dėl karjeros, išsilavinimo</a:t>
            </a:r>
          </a:p>
          <a:p>
            <a:r>
              <a:t>• Vyrų laikoma „nenatūralia”</a:t>
            </a:r>
          </a:p>
          <a:p/>
          <a:p>
            <a:r>
              <a:t>Šaltinis: Barber, G., Engle, J., &amp; Lohkamp, N. (2019). DOI: https://doi.org/10.1177/0276146719847748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Trijų pagrindinių psichologų požiūriai į moteriškumą ir jų skirtumai.</a:t>
            </a:r>
          </a:p>
          <a:p/>
          <a:p>
            <a:r>
              <a:t>CARL GUSTAV JUNG:</a:t>
            </a:r>
          </a:p>
          <a:p>
            <a:r>
              <a:t>• Pagrindas: archetipai kolektyvinėje pasąmonėje</a:t>
            </a:r>
          </a:p>
          <a:p>
            <a:r>
              <a:t>• Svarbiausi moteriškumo archetipai: Anima, Didžioji Motina, Kore, Senoji Išmintingoji</a:t>
            </a:r>
          </a:p>
          <a:p>
            <a:r>
              <a:t>• Individuacijos tikslas — integruoti visus aspektus</a:t>
            </a:r>
          </a:p>
          <a:p>
            <a:r>
              <a:t>• Biologinis vyrų/moterų skirtumo požiūris peržiūrimas moderniais tyrimais</a:t>
            </a:r>
          </a:p>
          <a:p/>
          <a:p>
            <a:r>
              <a:t>JEAN SHINODA BOLEN (1984, „Goddesses in Everywoman”):</a:t>
            </a:r>
          </a:p>
          <a:p>
            <a:r>
              <a:t>• Pritaikė Jungo teoriją specifiškoms moteriškoms patirtims</a:t>
            </a:r>
          </a:p>
          <a:p>
            <a:r>
              <a:t>• 7 deivių tipai:</a:t>
            </a:r>
          </a:p>
          <a:p>
            <a:r>
              <a:t>  – Artemidė (savarankiška, tikslinga)    – Atena (protinga, strategiška)</a:t>
            </a:r>
          </a:p>
          <a:p>
            <a:r>
              <a:t>  – Hestija (vidinė ramybė)    – Hera (santykiai, apsauga)</a:t>
            </a:r>
          </a:p>
          <a:p>
            <a:r>
              <a:t>  – Demetra (motiniška)    – Persefonė (receptyvi)    – Afroditė (kūrybinė, erotinė)</a:t>
            </a:r>
          </a:p>
          <a:p>
            <a:r>
              <a:t>• Praktinis klausimas: kuri deivė dominuoja jūsų gyvenime?</a:t>
            </a:r>
          </a:p>
          <a:p/>
          <a:p>
            <a:r>
              <a:t>CLARISSA PINKOLA ESTÉS (1992, „Women Who Run With the Wolves”):</a:t>
            </a:r>
          </a:p>
          <a:p>
            <a:r>
              <a:t>• „Laukinė moteris” = pirmykštė instinktyvi psichika</a:t>
            </a:r>
          </a:p>
          <a:p>
            <a:r>
              <a:t>• Istorijos, mitai, sapnai kaip priėjimas prie instinktyvios psichikos</a:t>
            </a:r>
          </a:p>
          <a:p>
            <a:r>
              <a:t>• Šešėlio integracija per pirmykščio instinkto atgavimą</a:t>
            </a:r>
          </a:p>
          <a:p/>
          <a:p>
            <a:r>
              <a:t>EVOLIUCIJA: Jung (struktūra) → Bolen (praktinis) → Estés (instinktas) → Modernūs (saviugda)</a:t>
            </a:r>
          </a:p>
          <a:p/>
          <a:p>
            <a:r>
              <a:t>Šaltiniai:</a:t>
            </a:r>
          </a:p>
          <a:p>
            <a:r>
              <a:t>• Bolen, J.S. (1984). Goddesses in Everywoman. San Francisco: Harper &amp; Row.</a:t>
            </a:r>
          </a:p>
          <a:p>
            <a:r>
              <a:t>• Estés, C.P. (1992). Women Who Run With the Wolves. New York: Ballantine.</a:t>
            </a:r>
          </a:p>
          <a:p>
            <a:r>
              <a:t>• https://www.scholink.org/ojs/index.php/sll/article/view/37840/9767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IŠVADŲ SKAIDRĖ — apibendrinti visą prezentacijos kelią.</a:t>
            </a:r>
          </a:p>
          <a:p/>
          <a:p>
            <a:r>
              <a:t>PAGRINDINIAI ATRADIMO ŽINGSNIAI:</a:t>
            </a:r>
          </a:p>
          <a:p>
            <a:r>
              <a:t>1. Moteriškumas = giluminis psichinis procesas, ne visuomenės konstruktas</a:t>
            </a:r>
          </a:p>
          <a:p>
            <a:r>
              <a:t>2. Jungo individuacijos kelias: šešėlio integracija → animuso integracija → personas atskyrimas → Savasties realizacija</a:t>
            </a:r>
          </a:p>
          <a:p>
            <a:r>
              <a:t>3. Femme fatale archetipai (Diana, Venera, Amazonė, Sapfo) parodo: „pavojinga moteris” = moteris, kuri nepraranda ryšio su galios šaltiniais</a:t>
            </a:r>
          </a:p>
          <a:p>
            <a:r>
              <a:t>4. The Star korta = šis kelias: po Bokšto (destrukcija), po Mėnulio (tamsa), šviesos atradimas viduje</a:t>
            </a:r>
          </a:p>
          <a:p/>
          <a:p>
            <a:r>
              <a:t>KODĖL SVARBU:</a:t>
            </a:r>
          </a:p>
          <a:p>
            <a:r>
              <a:t>• Kiekvienas šešėlio aspektas, kurį priiname, grąžina energiją</a:t>
            </a:r>
          </a:p>
          <a:p>
            <a:r>
              <a:t>• Kiekvienas animo aspektas, kurį integruojame, suteikia daugiau autonomijos</a:t>
            </a:r>
          </a:p>
          <a:p>
            <a:r>
              <a:t>• Kiekvienas personas žingsnis atgal — žingsnis link tikrosios savęs</a:t>
            </a:r>
          </a:p>
          <a:p/>
          <a:p>
            <a:r>
              <a:t>Bash (1972): anima/animus kompensuoja sąmoningą asmenybės pusę ir padeda integruoti psichikos priešybes</a:t>
            </a:r>
          </a:p>
          <a:p>
            <a:r>
              <a:t>DOI: 10.1080/00223891.1972.10119769</a:t>
            </a:r>
          </a:p>
          <a:p/>
          <a:p>
            <a:r>
              <a:t>GALIMAS UŽDAVINYS AUDITORIJAI:</a:t>
            </a:r>
          </a:p>
          <a:p>
            <a:r>
              <a:t>„Kokia korta vaizduoja jus dabar šioje kelionėje? Kokios savasties ieškote?”</a:t>
            </a:r>
          </a:p>
          <a:p/>
          <a:p>
            <a:r>
              <a:t>Šaltiniai:</a:t>
            </a:r>
          </a:p>
          <a:p>
            <a:r>
              <a:t>• Bash, G.A. (1972). DOI: 10.1080/00223891.1972.10119769</a:t>
            </a:r>
          </a:p>
          <a:p>
            <a:r>
              <a:t>• DOI: 10.1093/acprof:oso/9780199735426.003.0011</a:t>
            </a:r>
          </a:p>
          <a:p>
            <a:r>
              <a:t>• DOI: https://doi.org/10.46866/josshe.2018.v1.n2.44</a:t>
            </a:r>
          </a:p>
          <a:p>
            <a:r>
              <a:t>• DOI: https://doi.org/10.22484/2177-5788.2022v48id4807</a:t>
            </a:r>
          </a:p>
          <a:p>
            <a:r>
              <a:t>• Jung, C.G. (1930–1934). Visions Seminars, Vol. 2, p. 1314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star_onl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2697480" cy="4800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08960" y="384048"/>
            <a:ext cx="22860" cy="4434840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37560" y="384048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0EAD8"/>
                </a:solidFill>
                <a:latin typeface="Georgia"/>
              </a:rPr>
              <a:t>THE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35331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B49660"/>
                </a:solidFill>
                <a:latin typeface="Georgia"/>
              </a:rPr>
              <a:t>Autentiškas moteriškumas: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810512"/>
            <a:ext cx="5486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8DFC4"/>
                </a:solidFill>
                <a:latin typeface="Calibri"/>
              </a:rPr>
              <a:t>Jungo individuacijos kelias link savojo moteriškumo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560320"/>
            <a:ext cx="5394960" cy="132588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2560320"/>
            <a:ext cx="41148" cy="1325880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679192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0EAD8"/>
                </a:solidFill>
                <a:latin typeface="Georgia"/>
              </a:rPr>
              <a:t>„tai nėra ką tu matai, tai yra ta, kas lieka paveiksle tada, kai nustoji jį suprasti“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4901184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Rider-Waite-Smith Tarot, 1909 © US Games Systems, Inc. | Pristatomas švietimo tikslais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228"/>
                </a:solidFill>
                <a:latin typeface="Georgia"/>
              </a:rPr>
              <a:t>Moteriškumo vaizdavimas istoriškai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58952"/>
            <a:ext cx="2995574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32688"/>
            <a:ext cx="55321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1B3228"/>
                </a:solidFill>
                <a:latin typeface="Calibri"/>
              </a:rPr>
              <a:t>  •  Moteriškumas istoriškai buvo žeminamas, niekinamas arba atmetamas.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300">
                <a:solidFill>
                  <a:srgbClr val="1B3228"/>
                </a:solidFill>
                <a:latin typeface="Calibri"/>
              </a:rPr>
              <a:t>  •  Mados ir stiliaus konstruojamas moteriškumas naudotas kaip politinė taktika ir seksualinio įgalinimo šaltinis.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300">
                <a:solidFill>
                  <a:srgbClr val="1B3228"/>
                </a:solidFill>
                <a:latin typeface="Calibri"/>
              </a:rPr>
              <a:t>  •  Lemtingos moters (femme fatale) vaizdas — provokuojantis daugiasluoksnis diskursas populiariojoje kultūroje.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300">
                <a:solidFill>
                  <a:srgbClr val="1B3228"/>
                </a:solidFill>
                <a:latin typeface="Calibri"/>
              </a:rPr>
              <a:t>  •  Vogue (1830–1900) konstruoja moters vaidmenį per profesijos, mados ir socialinės funkcijos prizmę.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300">
                <a:solidFill>
                  <a:srgbClr val="1B3228"/>
                </a:solidFill>
                <a:latin typeface="Calibri"/>
              </a:rPr>
              <a:t>  •  Moters kūnas ir seksualumas išlieka galios ir ginčų vieta visuomenėje.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82880"/>
            <a:ext cx="2944368" cy="4572000"/>
          </a:xfrm>
          <a:prstGeom prst="rect">
            <a:avLst/>
          </a:prstGeom>
          <a:solidFill>
            <a:srgbClr val="D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2880"/>
            <a:ext cx="294436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4517136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1">
                <a:solidFill>
                  <a:srgbClr val="9A9A9A"/>
                </a:solidFill>
                <a:latin typeface="Calibri"/>
              </a:rPr>
              <a:t>Vogue, 1894 m. (public domain)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https://doi.org/10.1177/0276146719847748 | https://cdr.lib.unc.edu/concern/honors_theses/sn00b818x | DOI: https://doi.org/10.63002/assm.210.662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EAD8"/>
                </a:solidFill>
                <a:latin typeface="Georgia"/>
              </a:rPr>
              <a:t>Archetipai kolektyvinėje pasąmonėje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572000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2633472" cy="365760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2633472" cy="38404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9660"/>
                </a:solidFill>
                <a:latin typeface="Georgia"/>
              </a:rPr>
              <a:t>Platono tradicija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64208"/>
            <a:ext cx="235915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0EAD8"/>
                </a:solidFill>
                <a:latin typeface="Calibri"/>
              </a:rPr>
              <a:t>Universalios formos, egzistuojančios nepriklausomai nuo sąmonės. Archetipai kaip tvarkos šaltinis chaose — pirmasis paminėjimas siekia Platono dialogus.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024128"/>
            <a:ext cx="2633472" cy="365760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7832" y="1024128"/>
            <a:ext cx="2633472" cy="38404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115568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9660"/>
                </a:solidFill>
                <a:latin typeface="Georgia"/>
              </a:rPr>
              <a:t>Jungo archetipai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664208"/>
            <a:ext cx="235915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0EAD8"/>
                </a:solidFill>
                <a:latin typeface="Calibri"/>
              </a:rPr>
              <a:t>Jung (1959): paveldimos patirties šablonai kolektyvinėje pasąmonėje. Vaizduojami mitologiniais, pirmapradžiais vaizdiniais. Simboliai aktyvuoja archetipus sapnuose ir fantazijose.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1024128"/>
            <a:ext cx="2633472" cy="365760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9904" y="1024128"/>
            <a:ext cx="2633472" cy="38404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115568"/>
            <a:ext cx="23591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49660"/>
                </a:solidFill>
                <a:latin typeface="Georgia"/>
              </a:rPr>
              <a:t>Neoarchetipinė teorija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64208"/>
            <a:ext cx="235915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0EAD8"/>
                </a:solidFill>
                <a:latin typeface="Calibri"/>
              </a:rPr>
              <a:t>Faber ir Mayer (2009): archetipai kaip mentaliniai modeliai, veikiantys automatiškai. Šiuolaikiniai tyrimai laiko juos įgytomis, ne genetiškai paveldimomis sąvokomis.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7375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Jung, C.G. (1959). Archetypes and the Collective Unconscious. Princeton UP. | DOI: https://doi.org/10.1177/0276146719847748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228"/>
                </a:solidFill>
                <a:latin typeface="Georgia"/>
              </a:rPr>
              <a:t>Anima ir Animus — dvynių sąvokų pora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58952"/>
            <a:ext cx="3328416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350">
                <a:solidFill>
                  <a:srgbClr val="8E5E6A"/>
                </a:solidFill>
                <a:latin typeface="Georgia"/>
              </a:rPr>
              <a:t>Anima</a:t>
            </a:r>
            <a:r>
              <a:rPr b="0" sz="1350">
                <a:solidFill>
                  <a:srgbClr val="1B3228"/>
                </a:solidFill>
                <a:latin typeface="Calibri"/>
              </a:rPr>
              <a:t> — nesąmoninga moteriška vyro psichikos pusė    </a:t>
            </a:r>
          </a:p>
          <a:p>
            <a:r>
              <a:rPr b="1" sz="1350">
                <a:solidFill>
                  <a:srgbClr val="8E5E6A"/>
                </a:solidFill>
                <a:latin typeface="Georgia"/>
              </a:rPr>
              <a:t>Animus</a:t>
            </a:r>
            <a:r>
              <a:rPr b="0" sz="1350">
                <a:solidFill>
                  <a:srgbClr val="1B3228"/>
                </a:solidFill>
                <a:latin typeface="Calibri"/>
              </a:rPr>
              <a:t> — nesąmoninga vyriška moters psichikos pusė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5577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1B3228"/>
                </a:solidFill>
                <a:latin typeface="Calibri"/>
              </a:rPr>
              <a:t>  •  Tiltas tarp asmeninės ir kolektyvinės pasąmonės — tarpininkai tarp ego ir giliosios psichikos.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>
                <a:solidFill>
                  <a:srgbClr val="1B3228"/>
                </a:solidFill>
                <a:latin typeface="Calibri"/>
              </a:rPr>
              <a:t>  •  Formuoja kaip mąstome ir jaučiame gyvenimą — ne ką sakome, o dvasią, kurią atnešame į pasaulį.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>
                <a:solidFill>
                  <a:srgbClr val="1B3228"/>
                </a:solidFill>
                <a:latin typeface="Calibri"/>
              </a:rPr>
              <a:t>  •  Vaizdinių kūrimo gebėjimas — įkvepiamų, kūrybingų, intuityvių vaizdinių iš vidinio pasaulio šaltinis.</a:t>
            </a:r>
          </a:p>
          <a:p>
            <a:pPr algn="l">
              <a:lnSpc>
                <a:spcPct val="128000"/>
              </a:lnSpc>
              <a:spcBef>
                <a:spcPts val="900"/>
              </a:spcBef>
            </a:pPr>
            <a:r>
              <a:rPr sz="1250">
                <a:solidFill>
                  <a:srgbClr val="1B3228"/>
                </a:solidFill>
                <a:latin typeface="Calibri"/>
              </a:rPr>
              <a:t>  •  Hilde Binswanger (1963): moterys turi biologinį vyriškumą (Eros) ir psichologinį maskulinumą pasąmonėje. Terapijos tikslas — sujungti abu tipus stiprioje moteryje.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4768" y="164592"/>
            <a:ext cx="2816352" cy="4626864"/>
          </a:xfrm>
          <a:prstGeom prst="rect">
            <a:avLst/>
          </a:prstGeom>
          <a:solidFill>
            <a:srgbClr val="D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4592"/>
            <a:ext cx="2816352" cy="4370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44768" y="4553712"/>
            <a:ext cx="28163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1">
                <a:solidFill>
                  <a:srgbClr val="9A9A9A"/>
                </a:solidFill>
                <a:latin typeface="Calibri"/>
              </a:rPr>
              <a:t>Dekoratyvinis vizualinis elementas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Bash, G.A. (1972). DOI: 10.1080/00223891.1972.10119769 | DOI: 10.1093/acprof:oso/9780199735426.003.0011 | https://www.academia.edu/3497431/Archetypes_and_Stereotypes_of_Women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EAD8"/>
                </a:solidFill>
                <a:latin typeface="Georgia"/>
              </a:rPr>
              <a:t>Šešėlis — tai, ką slepiame nuo savęs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572000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87552"/>
            <a:ext cx="320040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49039" y="987552"/>
            <a:ext cx="5166360" cy="393192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9039" y="987552"/>
            <a:ext cx="41148" cy="3931920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1078992"/>
            <a:ext cx="4892040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F0EAD8"/>
                </a:solidFill>
                <a:latin typeface="Georgia"/>
              </a:rPr>
              <a:t>„Šešėlis slypi visokiausiose savybėse, gebėjimuose ir potenciale, kurie, jei neatpažįstami ir neįsisąmoninami, palaiko asmenybės skurdumo būseną ir atima energijos šaltinius bei ryšio su kitais tiltus.“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596896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F0EAD8"/>
                </a:solidFill>
                <a:latin typeface="Calibri"/>
              </a:rPr>
              <a:t>  •  Represuota psichikos dalis — bruožai ir impulsai, atmesti kaip „nepriimtini” vaikystėje.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Apima tiek „neigiamą” (pyktį, baimę, gėdą), tiek „teigiamą” potencialą — jėgą, seksualumą, autonomiją.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Levine-Keini ir Shalev (2024): šešėlio pripažinimas leidžia moteriai priimti slopintą pyktį, autonomiją, seksualumą bei vidinę galią.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7375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10.1080/19342039.2013.788419 | DOI: 10.1163/19409060-bja10020 | DOI: https://doi.org/10.46866/josshe.2018.v1.n2.44 | DOI: https://doi.org/10.22484/2177-5788.2022v48id4807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7772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228"/>
                </a:solidFill>
                <a:latin typeface="Georgia"/>
              </a:rPr>
              <a:t>Šešėlio integracija — priėmimo kelias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58952"/>
            <a:ext cx="4041648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25196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58368" cy="171907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472184"/>
            <a:ext cx="5852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B49660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515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228"/>
                </a:solidFill>
                <a:latin typeface="Georgia"/>
              </a:rPr>
              <a:t>Atpažinimas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72184"/>
            <a:ext cx="33375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Pastebėti savo reakcijas, projekcijas kitose, stiprų emocijų atsaką į tam tikrus bruožus. Sąmoningai sutikti su savo šešėliu.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36592" y="960120"/>
            <a:ext cx="425196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6592" y="960120"/>
            <a:ext cx="658368" cy="171907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472184"/>
            <a:ext cx="5852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B49660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10515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228"/>
                </a:solidFill>
                <a:latin typeface="Georgia"/>
              </a:rPr>
              <a:t>Priėmimas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1472184"/>
            <a:ext cx="33375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Nuoskauda ir kaltinimai užleidžia vietą atsakomybei. Savęs priėmimas ir atleidimas sau — be „tobulo moteriškumo” konstravimo.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53512"/>
            <a:ext cx="425196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53512"/>
            <a:ext cx="658368" cy="171907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3465576"/>
            <a:ext cx="5852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B49660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4495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228"/>
                </a:solidFill>
                <a:latin typeface="Georgia"/>
              </a:rPr>
              <a:t>Integracija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65576"/>
            <a:ext cx="33375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Nesąmoningų aspektų — pykčio, autonomijos, seksualumo, galios — integravimas į sąmoningą tapatybę. Griežta sąžinė atsipalaiduoja.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2953512"/>
            <a:ext cx="425196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36592" y="2953512"/>
            <a:ext cx="658368" cy="171907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3465576"/>
            <a:ext cx="58521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B49660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1" y="3044952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3228"/>
                </a:solidFill>
                <a:latin typeface="Georgia"/>
              </a:rPr>
              <a:t>Transformacija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1" y="3465576"/>
            <a:ext cx="33375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Asmeninės vertybės tampa priešprieša kolektyvinei moralei. Moteriškumo brandai būtina psichinė visuma, ne „tobula” išorinė forma.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10.1080/19342039.2013.788419 | DOI: https://doi.org/10.46866/josshe.2018.v1.n2.44 | DOI: https://doi.org/10.22484/2177-5788.2022v48id4807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EAD8"/>
                </a:solidFill>
                <a:latin typeface="Georgia"/>
              </a:rPr>
              <a:t>Persona ir Savastis — kaukė ir autentiška būtis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572000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005840"/>
            <a:ext cx="3858768" cy="388620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005840"/>
            <a:ext cx="3858768" cy="38404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9728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9660"/>
                </a:solidFill>
                <a:latin typeface="Georgia"/>
              </a:rPr>
              <a:t>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8DFC4"/>
                </a:solidFill>
                <a:latin typeface="Calibri"/>
              </a:rPr>
              <a:t>Socialinė kaukė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38528"/>
            <a:ext cx="3566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F0EAD8"/>
                </a:solidFill>
                <a:latin typeface="Calibri"/>
              </a:rPr>
              <a:t>  •  Jungas: persona = socialinė „kaukė”, padedanti prisitaikyti prie visuomenės lūkesčių.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Kliūtis saviugdai, kai žmogus ima gyventi pagal vaidmenis, o ne vidinę psichikos struktūrą.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Pernelyg stiprus susitapatinimas su persona blokuoja autentiškos savasties formavimąsi.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240280"/>
            <a:ext cx="457200" cy="1097280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264261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B3228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3154680"/>
            <a:ext cx="10607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B49660"/>
                </a:solidFill>
                <a:latin typeface="Calibri"/>
              </a:rPr>
              <a:t>Individuacija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005840"/>
            <a:ext cx="3858768" cy="388620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005840"/>
            <a:ext cx="3858768" cy="38404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09728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E5E6A"/>
                </a:solidFill>
                <a:latin typeface="Georgia"/>
              </a:rPr>
              <a:t>SAVASTIS (SELF)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536192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8DFC4"/>
                </a:solidFill>
                <a:latin typeface="Calibri"/>
              </a:rPr>
              <a:t>Psichinė visuma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938528"/>
            <a:ext cx="35661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>
                <a:solidFill>
                  <a:srgbClr val="F0EAD8"/>
                </a:solidFill>
                <a:latin typeface="Calibri"/>
              </a:rPr>
              <a:t>  •  Tik integruojant šešėlį, animą/animusą ir ego galima pasiekti Self — psichinę visumą.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Moteriškumo atradimas = psichinės visumos kūrimas, ne išorinio vaidmens vykdymas.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200">
                <a:solidFill>
                  <a:srgbClr val="F0EAD8"/>
                </a:solidFill>
                <a:latin typeface="Calibri"/>
              </a:rPr>
              <a:t>  •  Rocha (2018): individuacijos procese svarbu atskirti personą nuo tikrosios savasties ir pripažinti šešėlio aspektus.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7375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https://doi.org/10.46866/josshe.2018.v1.n2.44 | https://appliedjung.com/blog/the-archetypes-of-the-anima-and-animus | DOI: 10.1093/acprof:oso/9780199735426.003.0011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228"/>
                </a:solidFill>
                <a:latin typeface="Georgia"/>
              </a:rPr>
              <a:t>Femme Fatale — keturi moters archetipai (Barber et al., 2019)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58952"/>
            <a:ext cx="4517136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14400"/>
            <a:ext cx="438912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" y="4736592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9A9A9A"/>
                </a:solidFill>
                <a:latin typeface="Calibri"/>
              </a:rPr>
              <a:t>1 pav. Šaltinis: Barber, G. et al. (2019), Fig. 1. DOI: 10.1177/0276146719847748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4608" y="960120"/>
            <a:ext cx="4114800" cy="923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64608" y="960120"/>
            <a:ext cx="59436" cy="923544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7488" y="10332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3228"/>
                </a:solidFill>
                <a:latin typeface="Georgia"/>
              </a:rPr>
              <a:t>Diana — Medžiotoja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389888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Outer-focused, finansiniai siekiai. Ambicinga, vadovaujanti. Gerbėjai = jos grobis. Pavojinga varžovams.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4608" y="1993391"/>
            <a:ext cx="4114800" cy="923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64608" y="1993391"/>
            <a:ext cx="59436" cy="923544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066543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3228"/>
                </a:solidFill>
                <a:latin typeface="Georgia"/>
              </a:rPr>
              <a:t>Venera — Gundytoja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423159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Inner-focused, seksualinis siekis. Erotinę meilę naudoja kaip galios šaltinį. Trojos karas dėl jos ego.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4608" y="3026663"/>
            <a:ext cx="4114800" cy="923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64608" y="3026663"/>
            <a:ext cx="59436" cy="923544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3099815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3228"/>
                </a:solidFill>
                <a:latin typeface="Georgia"/>
              </a:rPr>
              <a:t>Amazonė — Karė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456431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Outer-focused, seksualinis. Neriboto seksualumo moteris. Dviratininkė, raitelė — transgresyvi, drąsi.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4059935"/>
            <a:ext cx="4114800" cy="923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4608" y="4059935"/>
            <a:ext cx="59436" cy="923544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4133087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3228"/>
                </a:solidFill>
                <a:latin typeface="Georgia"/>
              </a:rPr>
              <a:t>Sapfo — Savarankiška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4489703"/>
            <a:ext cx="3749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3228"/>
                </a:solidFill>
                <a:latin typeface="Calibri"/>
              </a:rPr>
              <a:t>Inner-focused, finansiniai. Intelektualė. „Naujoji moteris” — karjera, savarankiškumas, savirealizacija.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https://doi.org/10.1177/0276146719847748 (Barber, G., Engle, J., &amp; Lohkamp, N., 2019)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686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3228"/>
                </a:solidFill>
                <a:latin typeface="Georgia"/>
              </a:rPr>
              <a:t>Psichologų požiūriai į autentišką moteriškumą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58952"/>
            <a:ext cx="4517136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1554480" cy="43891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64284"/>
            <a:ext cx="1554480" cy="7315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78408"/>
            <a:ext cx="1444752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0EAD8"/>
                </a:solidFill>
                <a:latin typeface="Georgia"/>
              </a:rPr>
              <a:t>Autorius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7088" y="932688"/>
            <a:ext cx="2359152" cy="43891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47088" y="1364284"/>
            <a:ext cx="2359152" cy="7315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978408"/>
            <a:ext cx="224942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0EAD8"/>
                </a:solidFill>
                <a:latin typeface="Georgia"/>
              </a:rPr>
              <a:t>Pagrindinė idėja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932688"/>
            <a:ext cx="2633472" cy="43891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364284"/>
            <a:ext cx="2633472" cy="7315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978408"/>
            <a:ext cx="25237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0EAD8"/>
                </a:solidFill>
                <a:latin typeface="Georgia"/>
              </a:rPr>
              <a:t>Moteriškumo modelis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932688"/>
            <a:ext cx="1920240" cy="438912"/>
          </a:xfrm>
          <a:prstGeom prst="rect">
            <a:avLst/>
          </a:prstGeom>
          <a:solidFill>
            <a:srgbClr val="1B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364284"/>
            <a:ext cx="1920240" cy="7315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978408"/>
            <a:ext cx="1810512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0EAD8"/>
                </a:solidFill>
                <a:latin typeface="Georgia"/>
              </a:rPr>
              <a:t>Ką aiškina geriausiai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89888"/>
            <a:ext cx="1554480" cy="786384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168956"/>
            <a:ext cx="155448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435608"/>
            <a:ext cx="144475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Carl Gustav Jung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7088" y="1389888"/>
            <a:ext cx="2359152" cy="786384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47088" y="2168956"/>
            <a:ext cx="235915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1435608"/>
            <a:ext cx="22494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Kolektyvinė pasąmonė, archetipai, individuacija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1389888"/>
            <a:ext cx="2633472" cy="786384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2168956"/>
            <a:ext cx="263347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435608"/>
            <a:ext cx="252374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Anima, Didžioji Motina, Kore, Išmintingoji moteris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1389888"/>
            <a:ext cx="1920240" cy="786384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76288" y="2168956"/>
            <a:ext cx="192024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435608"/>
            <a:ext cx="181051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Psichikos struktūrą ir integracijos procesą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94560"/>
            <a:ext cx="1554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028492"/>
            <a:ext cx="155448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240279"/>
            <a:ext cx="144475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Jean Shinoda Bolen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7088" y="2194560"/>
            <a:ext cx="235915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47088" y="3028492"/>
            <a:ext cx="235915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240279"/>
            <a:ext cx="2249424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Graikų deivės kaip psichikos organizacijos modeliai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2194560"/>
            <a:ext cx="263347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24528" y="3028492"/>
            <a:ext cx="263347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2240279"/>
            <a:ext cx="2523744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Artemidė, Hera, Afroditė, Atena, Demetra ir kt.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76288" y="2194560"/>
            <a:ext cx="192024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76288" y="3028492"/>
            <a:ext cx="192024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240279"/>
            <a:ext cx="1810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Moters elgesio tipus ir santykių šablonus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54096"/>
            <a:ext cx="1554480" cy="749808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796588"/>
            <a:ext cx="155448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099815"/>
            <a:ext cx="144475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Clarissa Pinkola Estés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47088" y="3054096"/>
            <a:ext cx="2359152" cy="749808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47088" y="3796588"/>
            <a:ext cx="235915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3099815"/>
            <a:ext cx="224942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Laukinė moteris ir instinktyvi psichika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3054096"/>
            <a:ext cx="2633472" cy="749808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24528" y="3796588"/>
            <a:ext cx="263347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3099815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Intuityvi, kūrybinė, primali moteris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76288" y="3054096"/>
            <a:ext cx="1920240" cy="749808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76288" y="3796588"/>
            <a:ext cx="192024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099815"/>
            <a:ext cx="18105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Intuiciją, instinktą, kūrybinę jėgą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822191"/>
            <a:ext cx="155448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4601260"/>
            <a:ext cx="155448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867911"/>
            <a:ext cx="144475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Modernūs tyrimai
(Faber &amp; Mayer, 2009)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7088" y="3822191"/>
            <a:ext cx="235915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47088" y="4601260"/>
            <a:ext cx="235915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0240" y="3867911"/>
            <a:ext cx="224942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Archetipai kaip mentaliniai modeliai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24528" y="3822191"/>
            <a:ext cx="263347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24528" y="4601260"/>
            <a:ext cx="2633472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3867911"/>
            <a:ext cx="252374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Motina, Mergelė, Karalienė, Medžiotoja, Išmintingoji, Mistikė, Meilužė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76288" y="3822191"/>
            <a:ext cx="1920240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76288" y="4601260"/>
            <a:ext cx="1920240" cy="7315"/>
          </a:xfrm>
          <a:prstGeom prst="rect">
            <a:avLst/>
          </a:prstGeom>
          <a:solidFill>
            <a:srgbClr val="D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3867911"/>
            <a:ext cx="181051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B3228"/>
                </a:solidFill>
                <a:latin typeface="Calibri"/>
              </a:rPr>
              <a:t>Saviugdą ir šiuolaikinį identitetą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Bolen, J.S. (1984). Goddesses in Everywoman. | Estés, C.P. (1992). Women Who Run With the Wolves. | https://www.scholink.org/ojs/index.php/sll/article/view/37840/9767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0EAD8"/>
                </a:solidFill>
                <a:latin typeface="Georgia"/>
              </a:rPr>
              <a:t>Savasties kūrimas — moteriškumo pilnatvė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4572000" cy="20116"/>
          </a:xfrm>
          <a:prstGeom prst="rect">
            <a:avLst/>
          </a:prstGeom>
          <a:solidFill>
            <a:srgbClr val="B4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005840"/>
            <a:ext cx="5486400" cy="3931920"/>
          </a:xfrm>
          <a:prstGeom prst="rect">
            <a:avLst/>
          </a:prstGeom>
          <a:solidFill>
            <a:srgbClr val="2D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005840"/>
            <a:ext cx="41148" cy="3931920"/>
          </a:xfrm>
          <a:prstGeom prst="rect">
            <a:avLst/>
          </a:prstGeom>
          <a:solidFill>
            <a:srgbClr val="8E5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5166360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>
                <a:solidFill>
                  <a:srgbClr val="F0EAD8"/>
                </a:solidFill>
                <a:latin typeface="Calibri"/>
              </a:rPr>
              <a:t>  •  Autentiškas moteriškumas — ne išorinis vaidmuo ar socialinė kaukė, o psichinės visumos kūrimas.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</a:pPr>
            <a:r>
              <a:rPr sz="1250">
                <a:solidFill>
                  <a:srgbClr val="F0EAD8"/>
                </a:solidFill>
                <a:latin typeface="Calibri"/>
              </a:rPr>
              <a:t>  •  Kelias: šešėlio priėmimas → animuso integracija → personas atskyrimas → Savasties realizacija.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</a:pPr>
            <a:r>
              <a:rPr sz="1250">
                <a:solidFill>
                  <a:srgbClr val="F0EAD8"/>
                </a:solidFill>
                <a:latin typeface="Calibri"/>
              </a:rPr>
              <a:t>  •  Bash (1972): anima/animus veikia kaip tarpininkai tarp ego ir giliosios pasąmonės — jų pažinimas padeda suvokti autentiškesnę savo tapatybę.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</a:pPr>
            <a:r>
              <a:rPr sz="1250">
                <a:solidFill>
                  <a:srgbClr val="F0EAD8"/>
                </a:solidFill>
                <a:latin typeface="Calibri"/>
              </a:rPr>
              <a:t>  •  Integruotas animus leidžia moteriai išlaikyti ryšį tiek su emociniu, tiek su racionaliuoju pradu.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</a:pPr>
            <a:r>
              <a:rPr sz="1250">
                <a:solidFill>
                  <a:srgbClr val="F0EAD8"/>
                </a:solidFill>
                <a:latin typeface="Calibri"/>
              </a:rPr>
              <a:t>  •  The Star: „aiškus matymas be prievartos” — savęs atradimas iš naujo, kai visos iliuzijos išnyksta.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4663440"/>
            <a:ext cx="5486400" cy="329184"/>
          </a:xfrm>
          <a:prstGeom prst="rect">
            <a:avLst/>
          </a:prstGeom>
          <a:solidFill>
            <a:srgbClr val="25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8172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49660"/>
                </a:solidFill>
                <a:latin typeface="Georgia"/>
              </a:rPr>
              <a:t>„Tik tada, kai pirmiausiai sugrįšite į kūną, į savo žemę, gali įvykti individualizacija.“ — C.G. Jung (1930–1934)</a:t>
            </a:r>
          </a:p>
        </p:txBody>
      </p:sp>
      <p:pic>
        <p:nvPicPr>
          <p:cNvPr id="9" name="Picture 8" descr="thestar_onl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914400"/>
            <a:ext cx="2816352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DOI: 10.1080/00223891.1972.10119769 | DOI: 10.1093/acprof:oso/9780199735426.003.0011 | DOI: https://doi.org/10.46866/josshe.2018.v1.n2.44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